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6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68680" y="3184327"/>
            <a:ext cx="10698480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rPr lang="en-IN" sz="3400" b="1" dirty="0">
                <a:solidFill>
                  <a:srgbClr val="FFFFFF"/>
                </a:solidFill>
                <a:latin typeface="Aptos"/>
              </a:rPr>
              <a:t>Exploratory Data Analysis of Large-Scale Industry Performance Dataset Using Univariate, Bivariate, and Multivariate Statistical Techniques </a:t>
            </a:r>
            <a:endParaRPr dirty="0"/>
          </a:p>
        </p:txBody>
      </p:sp>
      <p:sp>
        <p:nvSpPr>
          <p:cNvPr id="4" name="TextBox 3"/>
          <p:cNvSpPr txBox="1"/>
          <p:nvPr/>
        </p:nvSpPr>
        <p:spPr>
          <a:xfrm>
            <a:off x="868680" y="1845290"/>
            <a:ext cx="106070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200" b="1">
                <a:solidFill>
                  <a:srgbClr val="ECB048"/>
                </a:solidFill>
                <a:latin typeface="Aptos"/>
              </a:defRPr>
            </a:pPr>
            <a:r>
              <a:rPr lang="en-US" sz="2800" dirty="0"/>
              <a:t>Project 4 b: Sayali Sanjay Patil </a:t>
            </a:r>
            <a:endParaRPr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5156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C697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Dataset contains 15,000 company records and 12 original columns.</a:t>
            </a:r>
          </a:p>
          <a:p>
            <a:pPr>
              <a:spcAft>
                <a:spcPts val="13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Objective: explore company performance patterns and build a regression model to predict annual revenue.</a:t>
            </a:r>
          </a:p>
          <a:p>
            <a:pPr>
              <a:spcAft>
                <a:spcPts val="13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Target variable: annual_revenue_million.</a:t>
            </a:r>
          </a:p>
          <a:p>
            <a:pPr>
              <a:spcAft>
                <a:spcPts val="13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Workflow: data checks → EDA → feature engineering → model training → evaluation → sample prediction.</a:t>
            </a:r>
          </a:p>
          <a:p>
            <a:pPr>
              <a:spcAft>
                <a:spcPts val="1300"/>
              </a:spcAft>
              <a:defRPr sz="1900">
                <a:solidFill>
                  <a:srgbClr val="28303A"/>
                </a:solidFill>
                <a:latin typeface="Aptos"/>
              </a:defRPr>
            </a:pPr>
            <a:r>
              <a:t>•  Five regression algorithms were compared using MAE, RMSE and R².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t>Dataset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5156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C6977"/>
                </a:solidFill>
                <a:latin typeface="Aptos"/>
              </a:defRPr>
            </a:pPr>
            <a: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508760"/>
          <a:ext cx="1060704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149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Item</a:t>
                      </a:r>
                    </a:p>
                  </a:txBody>
                  <a:tcPr marL="73152" marR="73152" marT="36576" marB="36576">
                    <a:solidFill>
                      <a:srgbClr val="16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Notebook result</a:t>
                      </a:r>
                    </a:p>
                  </a:txBody>
                  <a:tcPr marL="73152" marR="73152" marT="36576" marB="36576">
                    <a:solidFill>
                      <a:srgbClr val="1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Records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15,000 rows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Original columns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12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Missing values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0 across all columns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Duplicate rows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Industry groups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Finance, Technology, Retail, Manufacturing, Healthcare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Countries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India, Germany, Canada, USA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149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Regions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Asia, Europe, North America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897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08B8B"/>
                </a:solidFill>
                <a:latin typeface="Aptos"/>
              </a:defRPr>
            </a:pPr>
            <a:r>
              <a:t>The dataset remained at 15,000 × 12 after duplicate checking.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t>Variables &amp; Feature Engineering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5156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C697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 Numeric inputs: employee count, profit margin, founded year, customer count and market rating.</a:t>
            </a:r>
          </a:p>
          <a:p>
            <a:pPr>
              <a:spcAft>
                <a:spcPts val="13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 Categorical inputs: industry, country and region.</a:t>
            </a:r>
          </a:p>
          <a:p>
            <a:pPr>
              <a:spcAft>
                <a:spcPts val="13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 Date was converted to datetime using day-first parsing.</a:t>
            </a:r>
          </a:p>
          <a:p>
            <a:pPr>
              <a:spcAft>
                <a:spcPts val="13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 Derived features: created_year, created_month, created_quarter and company_age.</a:t>
            </a:r>
          </a:p>
          <a:p>
            <a:pPr>
              <a:spcAft>
                <a:spcPts val="13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 Excluded id, company_name and the raw created_date from model inputs.</a:t>
            </a:r>
          </a:p>
          <a:p>
            <a:pPr>
              <a:spcAft>
                <a:spcPts val="13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 Split: 12,000 training records (80%) and 3,000 testing records (20%); random_state = 42.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t>Descriptive Statistics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5156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C6977"/>
                </a:solidFill>
                <a:latin typeface="Aptos"/>
              </a:defRPr>
            </a:pPr>
            <a: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54480"/>
          <a:ext cx="10698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4765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Variable</a:t>
                      </a:r>
                    </a:p>
                  </a:txBody>
                  <a:tcPr marL="73152" marR="73152" marT="36576" marB="36576">
                    <a:solidFill>
                      <a:srgbClr val="16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Mean</a:t>
                      </a:r>
                    </a:p>
                  </a:txBody>
                  <a:tcPr marL="73152" marR="73152" marT="36576" marB="36576">
                    <a:solidFill>
                      <a:srgbClr val="16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Minimum</a:t>
                      </a:r>
                    </a:p>
                  </a:txBody>
                  <a:tcPr marL="73152" marR="73152" marT="36576" marB="36576">
                    <a:solidFill>
                      <a:srgbClr val="16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Maximum</a:t>
                      </a:r>
                    </a:p>
                  </a:txBody>
                  <a:tcPr marL="73152" marR="73152" marT="36576" marB="36576">
                    <a:solidFill>
                      <a:srgbClr val="1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Employee count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2,606.86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5,099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Annual revenue (million)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549.73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50.16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1,049.96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Profit margin (%)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25.01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5.00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45.00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Founded year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2004.37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1990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2019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5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Customer count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50,449.25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500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100,495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7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Market rating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2.51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0.0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5.0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80644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5C6977"/>
                </a:solidFill>
                <a:latin typeface="Aptos"/>
              </a:defRPr>
            </a:pPr>
            <a:r>
              <a:t>Revenue averages about 549.73 million in the dataset; units follow the source column name.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t>Categorical Distribution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5156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C6977"/>
                </a:solidFill>
                <a:latin typeface="Aptos"/>
              </a:defRPr>
            </a:pPr>
            <a: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77240" y="1417320"/>
          <a:ext cx="1060704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78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Category</a:t>
                      </a:r>
                    </a:p>
                  </a:txBody>
                  <a:tcPr marL="73152" marR="73152" marT="36576" marB="36576">
                    <a:solidFill>
                      <a:srgbClr val="16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Group</a:t>
                      </a:r>
                    </a:p>
                  </a:txBody>
                  <a:tcPr marL="73152" marR="73152" marT="36576" marB="36576">
                    <a:solidFill>
                      <a:srgbClr val="16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Records</a:t>
                      </a:r>
                    </a:p>
                  </a:txBody>
                  <a:tcPr marL="73152" marR="73152" marT="36576" marB="36576">
                    <a:solidFill>
                      <a:srgbClr val="1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Industry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Finance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3,000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Industry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Technology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3,000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Industry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Retail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3,000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Industry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Manufacturing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3,000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Industry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Healthcare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3,000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Country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India / Germany / Canada / USA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3,750 each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Region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North America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7,500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784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Region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Asia / Europe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3,750 each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t>Data Quality &amp; EDA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5156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C697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•  No missing values were reported in the original columns.</a:t>
            </a:r>
          </a:p>
          <a:p>
            <a:pPr>
              <a:spcAft>
                <a:spcPts val="13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•  No duplicate rows were found; the row count stayed at 15,000.</a:t>
            </a:r>
          </a:p>
          <a:p>
            <a:pPr>
              <a:spcAft>
                <a:spcPts val="13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•  IQR-based checks reported zero outliers for the six numeric variables examined.</a:t>
            </a:r>
          </a:p>
          <a:p>
            <a:pPr>
              <a:spcAft>
                <a:spcPts val="13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•  Histograms/boxplots, category counts, correlation heatmap and scatterplots were generated.</a:t>
            </a:r>
          </a:p>
          <a:p>
            <a:pPr>
              <a:spcAft>
                <a:spcPts val="13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•  Employee count vs revenue, customer count vs revenue and industry vs revenue were explored.</a:t>
            </a:r>
          </a:p>
          <a:p>
            <a:pPr>
              <a:spcAft>
                <a:spcPts val="13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•  Skewness values were close to zero for the six numeric variables, indicating near-symmetric distributions in this generated dataset.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t>Regression Models Compared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5156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C6977"/>
                </a:solidFill>
                <a:latin typeface="Aptos"/>
              </a:defRPr>
            </a:pPr>
            <a:r>
              <a:t>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1508760"/>
          <a:ext cx="1069848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73152" marR="73152" marT="36576" marB="36576">
                    <a:solidFill>
                      <a:srgbClr val="16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MAE</a:t>
                      </a:r>
                    </a:p>
                  </a:txBody>
                  <a:tcPr marL="73152" marR="73152" marT="36576" marB="36576">
                    <a:solidFill>
                      <a:srgbClr val="16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RMSE</a:t>
                      </a:r>
                    </a:p>
                  </a:txBody>
                  <a:tcPr marL="73152" marR="73152" marT="36576" marB="36576">
                    <a:solidFill>
                      <a:srgbClr val="16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R²</a:t>
                      </a:r>
                    </a:p>
                  </a:txBody>
                  <a:tcPr marL="73152" marR="73152" marT="36576" marB="36576">
                    <a:solidFill>
                      <a:srgbClr val="1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Linear Regression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248.278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287.337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-0.0012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Random Forest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248.727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287.981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-0.0057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Gradient Boosting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249.231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288.886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-0.0121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Extra Trees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250.440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290.741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-0.0251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Decision Tree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254.220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297.177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-0.0710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t>Model Comparison: R²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5156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C6977"/>
                </a:solidFill>
                <a:latin typeface="Aptos"/>
              </a:defRPr>
            </a:pPr>
            <a:r>
              <a:t>9</a:t>
            </a:r>
          </a:p>
        </p:txBody>
      </p:sp>
      <p:pic>
        <p:nvPicPr>
          <p:cNvPr id="7" name="Picture 6" descr="industry_model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417320"/>
            <a:ext cx="9966960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5897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AE4242"/>
                </a:solidFill>
                <a:latin typeface="Aptos"/>
              </a:defRPr>
            </a:pPr>
            <a:r>
              <a:t>A negative R² means the model performs slightly worse than a simple baseline that predicts the test-set mean.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t>Best Model &amp; Test Predictions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5156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C697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008B8B"/>
                </a:solidFill>
                <a:latin typeface="Aptos"/>
              </a:defRPr>
            </a:pPr>
            <a:r>
              <a:t>Linear Regression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868680" y="2240280"/>
          <a:ext cx="48006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Metric</a:t>
                      </a:r>
                    </a:p>
                  </a:txBody>
                  <a:tcPr marL="73152" marR="73152" marT="36576" marB="36576">
                    <a:solidFill>
                      <a:srgbClr val="16264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Value</a:t>
                      </a:r>
                    </a:p>
                  </a:txBody>
                  <a:tcPr marL="73152" marR="73152" marT="36576" marB="36576">
                    <a:solidFill>
                      <a:srgbClr val="1626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MAE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248.278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RMSE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287.337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R²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-0.001235</a:t>
                      </a:r>
                    </a:p>
                  </a:txBody>
                  <a:tcPr marL="73152" marR="73152" marT="36576" marB="36576">
                    <a:solidFill>
                      <a:srgbClr val="EE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Train / test records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0">
                          <a:solidFill>
                            <a:srgbClr val="28303A"/>
                          </a:solidFill>
                          <a:latin typeface="Aptos"/>
                        </a:defRPr>
                      </a:pPr>
                      <a:r>
                        <a:t>12,000 / 3,000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80760" y="182880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 Predictions are clustered near roughly 550 million.</a:t>
            </a:r>
          </a:p>
          <a:p>
            <a:pPr>
              <a:spcAft>
                <a:spcPts val="13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 The actual test revenues vary much more widely.</a:t>
            </a:r>
          </a:p>
          <a:p>
            <a:pPr>
              <a:spcAft>
                <a:spcPts val="13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 This suggests the current features/model do not explain revenue differences well.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t>Actual vs Predicted Revenue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5156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C6977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7" name="Picture 6" descr="industry_actual_vs_predi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417320"/>
            <a:ext cx="6583680" cy="45262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818120" y="1828800"/>
            <a:ext cx="3749039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•  Predictions stay close to the average.</a:t>
            </a:r>
          </a:p>
          <a:p>
            <a:pPr>
              <a:spcAft>
                <a:spcPts val="13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•  High and low actual revenues are not tracked closely.</a:t>
            </a:r>
          </a:p>
          <a:p>
            <a:pPr>
              <a:spcAft>
                <a:spcPts val="1300"/>
              </a:spcAft>
              <a:defRPr sz="1500">
                <a:solidFill>
                  <a:srgbClr val="28303A"/>
                </a:solidFill>
                <a:latin typeface="Aptos"/>
              </a:defRPr>
            </a:pPr>
            <a:r>
              <a:t>•  Use this chart as a visual diagnostic, not evidence of a reliable production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t>Feature Interpretation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5156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C6977"/>
                </a:solidFill>
                <a:latin typeface="Aptos"/>
              </a:defRPr>
            </a:pPr>
            <a:r>
              <a:t>12</a:t>
            </a:r>
          </a:p>
        </p:txBody>
      </p:sp>
      <p:pic>
        <p:nvPicPr>
          <p:cNvPr id="7" name="Picture 6" descr="industry_feature_coefficie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71600"/>
            <a:ext cx="6583680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89520" y="1554480"/>
            <a:ext cx="4069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t>•  Retail industry: +8.93</a:t>
            </a:r>
          </a:p>
          <a:p>
            <a:pPr>
              <a:spcAft>
                <a:spcPts val="13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t>•  Manufacturing industry: −7.74</a:t>
            </a:r>
          </a:p>
          <a:p>
            <a:pPr>
              <a:spcAft>
                <a:spcPts val="13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t>•  Created quarter: +7.70</a:t>
            </a:r>
          </a:p>
          <a:p>
            <a:pPr>
              <a:spcAft>
                <a:spcPts val="13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t>•  Created month: −5.78</a:t>
            </a:r>
          </a:p>
          <a:p>
            <a:pPr>
              <a:spcAft>
                <a:spcPts val="13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t>•  Market rating: +4.40</a:t>
            </a:r>
          </a:p>
          <a:p>
            <a:pPr>
              <a:spcAft>
                <a:spcPts val="1300"/>
              </a:spcAft>
              <a:defRPr sz="1400">
                <a:solidFill>
                  <a:srgbClr val="28303A"/>
                </a:solidFill>
                <a:latin typeface="Aptos"/>
              </a:defRPr>
            </a:pPr>
            <a:r>
              <a:t>•  These are coefficient magnitudes/signs, not causal effects. Numeric scaling and one-hot encoding affect interpretation.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t>New Company Prediction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5156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C697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5C6977"/>
                </a:solidFill>
                <a:latin typeface="Aptos"/>
              </a:defRPr>
            </a:pPr>
            <a:r>
              <a:t>Predicted annual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6675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800" b="1">
                <a:solidFill>
                  <a:srgbClr val="008B8B"/>
                </a:solidFill>
                <a:latin typeface="Aptos"/>
              </a:defRPr>
            </a:pPr>
            <a:r>
              <a:t>552.91 million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429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 b="1">
                <a:solidFill>
                  <a:srgbClr val="162642"/>
                </a:solidFill>
                <a:latin typeface="Aptos"/>
              </a:defRPr>
            </a:pPr>
            <a:r>
              <a:t>Input example shown in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840480"/>
            <a:ext cx="104241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•  Industry: Technology</a:t>
            </a:r>
          </a:p>
          <a:p>
            <a:pPr>
              <a:spcAft>
                <a:spcPts val="13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•  Country: India</a:t>
            </a:r>
          </a:p>
          <a:p>
            <a:pPr>
              <a:spcAft>
                <a:spcPts val="13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•  Employee count: 3,500</a:t>
            </a:r>
          </a:p>
          <a:p>
            <a:pPr>
              <a:spcAft>
                <a:spcPts val="13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•  Profit margin: 35.5%</a:t>
            </a:r>
          </a:p>
          <a:p>
            <a:pPr>
              <a:spcAft>
                <a:spcPts val="1300"/>
              </a:spcAft>
              <a:defRPr sz="1600">
                <a:solidFill>
                  <a:srgbClr val="28303A"/>
                </a:solidFill>
                <a:latin typeface="Aptos"/>
              </a:defRPr>
            </a:pPr>
            <a:r>
              <a:t>•  The prediction is an illustrative model output; current model accuracy is weak, so it should not be used for business decisions.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800" b="1">
                <a:solidFill>
                  <a:srgbClr val="162642"/>
                </a:solidFill>
                <a:latin typeface="Aptos"/>
              </a:defRPr>
            </a:pPr>
            <a:r>
              <a:t>Conclusion &amp; 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234440"/>
            <a:ext cx="1051560" cy="54864"/>
          </a:xfrm>
          <a:prstGeom prst="rect">
            <a:avLst/>
          </a:prstGeom>
          <a:solidFill>
            <a:srgbClr val="008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365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C6977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 The dataset was clean on missing values and duplicate checks.</a:t>
            </a:r>
          </a:p>
          <a:p>
            <a:pPr>
              <a:spcAft>
                <a:spcPts val="13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 The EDA covered numeric distributions, category counts, outlier checks and relationships between selected variables.</a:t>
            </a:r>
          </a:p>
          <a:p>
            <a:pPr>
              <a:spcAft>
                <a:spcPts val="13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 Linear Regression had the best R² among the five tested models, but R² ≈ −0.001 indicates very weak predictive value.</a:t>
            </a:r>
          </a:p>
          <a:p>
            <a:pPr>
              <a:spcAft>
                <a:spcPts val="13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 The sample prediction of 552.91 million should be treated as exploratory only.</a:t>
            </a:r>
          </a:p>
          <a:p>
            <a:pPr>
              <a:spcAft>
                <a:spcPts val="1300"/>
              </a:spcAft>
              <a:defRPr sz="1700">
                <a:solidFill>
                  <a:srgbClr val="28303A"/>
                </a:solidFill>
                <a:latin typeface="Aptos"/>
              </a:defRPr>
            </a:pPr>
            <a:r>
              <a:t>•  Next steps: validate feature/target relationships, test stronger signal features, use cross-validation, compare against a mean baseline and investigate whether the dataset contains meaningful revenue patterns.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6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9202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2880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 b="0">
                <a:solidFill>
                  <a:srgbClr val="ECB048"/>
                </a:solidFill>
                <a:latin typeface="Aptos"/>
              </a:defRPr>
            </a:pPr>
            <a:r>
              <a:t>Industry Performance Dataset — EDA &amp; Machine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842</Words>
  <Application>Microsoft Office PowerPoint</Application>
  <PresentationFormat>Widescreen</PresentationFormat>
  <Paragraphs>181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PKSweb</cp:lastModifiedBy>
  <cp:revision>2</cp:revision>
  <dcterms:created xsi:type="dcterms:W3CDTF">2013-01-27T09:14:16Z</dcterms:created>
  <dcterms:modified xsi:type="dcterms:W3CDTF">2026-10-09T07:20:44Z</dcterms:modified>
  <cp:category/>
</cp:coreProperties>
</file>